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56F46"/>
            </a:solidFill>
          </c:spPr>
          <c:cat>
            <c:strRef>
              <c:f>Sheet1!$A$2:$A$5</c:f>
              <c:strCache>
                <c:ptCount val="4"/>
                <c:pt idx="0">
                  <c:v>Field
photos</c:v>
                </c:pt>
                <c:pt idx="1">
                  <c:v>OBB
boxes</c:v>
                </c:pt>
                <c:pt idx="2">
                  <c:v>Train
images</c:v>
                </c:pt>
                <c:pt idx="3">
                  <c:v>Text
rows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371</c:v>
                </c:pt>
                <c:pt idx="2">
                  <c:v>792</c:v>
                </c:pt>
                <c:pt idx="3">
                  <c:v>3000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Real images</c:v>
                </c:pt>
              </c:strCache>
            </c:strRef>
          </c:tx>
          <c:spPr>
            <a:solidFill>
              <a:srgbClr val="0D7490"/>
            </a:solidFill>
          </c:spPr>
          <c:cat>
            <c:strRef>
              <c:f>Sheet1!$A$2:$A$6</c:f>
              <c:strCache>
                <c:ptCount val="5"/>
                <c:pt idx="0">
                  <c:v>Blight</c:v>
                </c:pt>
                <c:pt idx="1">
                  <c:v>Hoppers</c:v>
                </c:pt>
                <c:pt idx="2">
                  <c:v>Rust</c:v>
                </c:pt>
                <c:pt idx="3">
                  <c:v>Looper</c:v>
                </c:pt>
                <c:pt idx="4">
                  <c:v>Mosquito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8</c:v>
                </c:pt>
                <c:pt idx="2">
                  <c:v>62</c:v>
                </c:pt>
                <c:pt idx="3">
                  <c:v>48</c:v>
                </c:pt>
                <c:pt idx="4">
                  <c:v>47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Best</c:v>
                </c:pt>
              </c:strCache>
            </c:strRef>
          </c:tx>
          <c:spPr>
            <a:solidFill>
              <a:srgbClr val="156F46"/>
            </a:solidFill>
          </c:spPr>
          <c:cat>
            <c:strRef>
              <c:f>Sheet1!$A$2:$A$4</c:f>
              <c:strCache>
                <c:ptCount val="3"/>
                <c:pt idx="0">
                  <c:v>LLM</c:v>
                </c:pt>
                <c:pt idx="1">
                  <c:v>ViT</c:v>
                </c:pt>
                <c:pt idx="2">
                  <c:v>VLM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0.487</c:v>
                </c:pt>
                <c:pt idx="1">
                  <c:v>0.911</c:v>
                </c:pt>
                <c:pt idx="2">
                  <c:v>0.949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</c:v>
                </c:pt>
              </c:strCache>
            </c:strRef>
          </c:tx>
          <c:spPr>
            <a:solidFill>
              <a:srgbClr val="2563EB"/>
            </a:solidFill>
          </c:spPr>
          <c:cat>
            <c:strRef>
              <c:f>Sheet1!$A$2:$A$4</c:f>
              <c:strCache>
                <c:ptCount val="3"/>
                <c:pt idx="0">
                  <c:v>LLM</c:v>
                </c:pt>
                <c:pt idx="1">
                  <c:v>ViT</c:v>
                </c:pt>
                <c:pt idx="2">
                  <c:v>VLM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0.45</c:v>
                </c:pt>
                <c:pt idx="1">
                  <c:v>0.883</c:v>
                </c:pt>
                <c:pt idx="2">
                  <c:v>0.915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60920" y="0"/>
            <a:ext cx="164592" cy="685800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grid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1447917"/>
            <a:ext cx="3794760" cy="35506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777240"/>
            <a:ext cx="5943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tos Display"/>
              </a:rPr>
              <a:t>FarmFederate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463040"/>
            <a:ext cx="5989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BE1D7"/>
                </a:solidFill>
                <a:latin typeface="Aptos"/>
              </a:rPr>
              <a:t>Multimodal Federated Learning for Tea Leaf Disease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51206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 Display"/>
              </a:rPr>
              <a:t>Ayush Debnath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56432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BE1D7"/>
                </a:solidFill>
                <a:latin typeface="Aptos"/>
              </a:rPr>
              <a:t>22ME31010  ·  Mechanical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41648"/>
            <a:ext cx="4937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Supervisor:  Prof. Sudip Misra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43984"/>
            <a:ext cx="5669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BE1D7"/>
                </a:solidFill>
                <a:latin typeface="Aptos"/>
              </a:rPr>
              <a:t>Department of Computer Science &amp; Engineering
Indian Institute of Technology Kharagpur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1143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309460"/>
                </a:solidFill>
                <a:latin typeface="Aptos Display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25312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diseases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5486400"/>
            <a:ext cx="1143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D7490"/>
                </a:solidFill>
                <a:latin typeface="Aptos Display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5925312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5486400"/>
            <a:ext cx="1143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E08A00"/>
                </a:solidFill>
                <a:latin typeface="Aptos Display"/>
              </a:rPr>
              <a:t>0.949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5925312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best 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486400"/>
            <a:ext cx="11430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62828"/>
                </a:solidFill>
                <a:latin typeface="Aptos Display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925312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1" i="0">
                <a:solidFill>
                  <a:srgbClr val="FFFFFF"/>
                </a:solidFill>
                <a:latin typeface="Aptos"/>
              </a:rPr>
              <a:t>Kaggle images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Paper-Aligned Defense 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The deck now carries the final paper structure, data claims, and result tables.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2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508760"/>
          <a:ext cx="64008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8176"/>
                <a:gridCol w="1024128"/>
                <a:gridCol w="3968496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Block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Slides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What it proves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Problem + data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3-6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Five tea diseases, real field source, no Kaggle image corpus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7-9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Local multimodal model, FedAvg, training safeguards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Results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10-15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VLM top-line gain, federated retention, full ranking, SOTA context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Deployment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16-18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RAG fallback, privacy story, limitations, future work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600200"/>
            <a:ext cx="64008" cy="1143000"/>
          </a:xfrm>
          <a:prstGeom prst="rect">
            <a:avLst/>
          </a:prstGeom>
          <a:solidFill>
            <a:srgbClr val="156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600200"/>
            <a:ext cx="3749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56F46"/>
                </a:solidFill>
                <a:latin typeface="Aptos"/>
              </a:rPr>
              <a:t>Central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883664"/>
            <a:ext cx="3749040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90E1C"/>
                </a:solidFill>
                <a:latin typeface="Aptos"/>
              </a:rPr>
              <a:t>FarmFederate gets the best performance from multimodal fusion while keeping raw leaf images, field logs, and advisory documents local to each estate.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429000"/>
            <a:ext cx="1737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56F46"/>
                </a:solidFill>
                <a:latin typeface="Aptos Display"/>
              </a:rPr>
              <a:t>98.6%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3867912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1" i="0">
                <a:solidFill>
                  <a:srgbClr val="090E1C"/>
                </a:solidFill>
                <a:latin typeface="Aptos"/>
              </a:rPr>
              <a:t>VLM federated retention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3429000"/>
            <a:ext cx="1600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D7490"/>
                </a:solidFill>
                <a:latin typeface="Aptos Display"/>
              </a:rPr>
              <a:t>0.038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86791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1" i="0">
                <a:solidFill>
                  <a:srgbClr val="090E1C"/>
                </a:solidFill>
                <a:latin typeface="Aptos"/>
              </a:rPr>
              <a:t>F1 over best ViT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4800600"/>
            <a:ext cx="1691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C62828"/>
                </a:solidFill>
                <a:latin typeface="Aptos Display"/>
              </a:rPr>
              <a:t>0.462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239512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1" i="0">
                <a:solidFill>
                  <a:srgbClr val="090E1C"/>
                </a:solidFill>
                <a:latin typeface="Aptos"/>
              </a:rPr>
              <a:t>F1 over best 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Five Tea Leaf Diseases in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The paper now briefly describes what each class looks like in the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417320"/>
          <a:ext cx="676655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9305"/>
                <a:gridCol w="1082649"/>
                <a:gridCol w="2841955"/>
                <a:gridCol w="1082649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Class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Real images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Field cue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Leaf blight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35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Brown water-soaked necrosis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Fungal/spotting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Leaf hoppers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Puncture lesions and hopper damage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Insect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Leaf rust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62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Orange-yellow pustules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Rust/fungal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Looper caterpillars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48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Ragged holes, skeletonised patches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Insect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Mosquito bug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47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Corky wounds, shoot-tip dieback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Insect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726679" y="1417320"/>
            <a:ext cx="16002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eal_leaf_b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715" y="1417320"/>
            <a:ext cx="1024128" cy="102412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601200" y="1417320"/>
            <a:ext cx="16002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al_leaf_hopper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9236" y="1417320"/>
            <a:ext cx="1024128" cy="10241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726679" y="2816352"/>
            <a:ext cx="16002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eal_leaf_rus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715" y="2816352"/>
            <a:ext cx="1024128" cy="102412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601200" y="2816352"/>
            <a:ext cx="16002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real_looper_caterpillar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9236" y="2816352"/>
            <a:ext cx="1024128" cy="1024128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726679" y="4215384"/>
            <a:ext cx="160020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real_mosquito_bug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4715" y="4215384"/>
            <a:ext cx="1024128" cy="102412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777240" y="4709160"/>
            <a:ext cx="64008" cy="713232"/>
          </a:xfrm>
          <a:prstGeom prst="rect">
            <a:avLst/>
          </a:prstGeom>
          <a:solidFill>
            <a:srgbClr val="156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09160"/>
            <a:ext cx="103327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56F46"/>
                </a:solidFill>
                <a:latin typeface="Aptos"/>
              </a:rPr>
              <a:t>Why this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992624"/>
            <a:ext cx="10332720" cy="429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90E1C"/>
                </a:solidFill>
                <a:latin typeface="Aptos"/>
              </a:rPr>
              <a:t>The dataset mixes fungal spotting, rust pustules, and pest injury. The classifier must learn disease-region texture, not just broad leaf colour.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Dataset Numbers Used in the Paper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These are the final values reflected in FarmFederate_Paper_v3.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444752"/>
          <a:ext cx="557783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579"/>
                <a:gridCol w="1004011"/>
                <a:gridCol w="2454249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Data item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Use in paper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Field photos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200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Original localized image source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YOLO-OBB boxes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371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Disease-region annotation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Training-run image tensors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792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200 real + 592 minority synthetic fill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Text descriptions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3,000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600 generated symptom records per class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VLM train / val pairs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633 / 79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Paired text-image validation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629400" y="1508760"/>
          <a:ext cx="475488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1051560" y="4892040"/>
            <a:ext cx="3840480" cy="27432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24712" y="4946904"/>
            <a:ext cx="3694176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ptos"/>
              </a:rPr>
              <a:t>No external Kaggle image corpus in reported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864608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90E1C"/>
                </a:solidFill>
                <a:latin typeface="Aptos"/>
              </a:rPr>
              <a:t>Colab may write Kaggle credentials, but the paper claim is based on field images + synthetic minority fill + generated symptom 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Class Balance and Train/Validation Splits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The deck separates the exported balanced folder from the actual reported training loader.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463040"/>
          <a:ext cx="525780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46520" y="1600200"/>
          <a:ext cx="4572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822960"/>
                <a:gridCol w="1005840"/>
                <a:gridCol w="150876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Loader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Train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Validation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Note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Text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2,400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300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3,000 rows loaded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Image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633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79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792 tensors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VLM pairs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633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79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Label-matched pairs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3794760"/>
          <a:ext cx="45720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822960"/>
                <a:gridCol w="2103120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Text difficulty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Share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Clear templates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8%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Easy class-specific symptoms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Slightly mixed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22%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Mild ambiguity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Heavily mixed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70%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90E1C"/>
                          </a:solidFill>
                          <a:latin typeface="Aptos"/>
                        </a:rPr>
                        <a:t>Forces image evidence in VLM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Field-First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The pipeline in the deck now matches the Colab logs and paper wording.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1737360" cy="777240"/>
          </a:xfrm>
          <a:prstGeom prst="roundRect">
            <a:avLst/>
          </a:prstGeom>
          <a:solidFill>
            <a:srgbClr val="156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29384"/>
            <a:ext cx="155448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Field collection
200 images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04288" y="2221992"/>
            <a:ext cx="429768" cy="0"/>
          </a:xfrm>
          <a:prstGeom prst="line">
            <a:avLst/>
          </a:prstGeom>
          <a:ln w="25400">
            <a:solidFill>
              <a:srgbClr val="62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07208" y="1828800"/>
            <a:ext cx="1737360" cy="777240"/>
          </a:xfrm>
          <a:prstGeom prst="round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98648" y="1929384"/>
            <a:ext cx="155448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Sorted folders
5 diseases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44568" y="2221992"/>
            <a:ext cx="429768" cy="0"/>
          </a:xfrm>
          <a:prstGeom prst="line">
            <a:avLst/>
          </a:prstGeom>
          <a:ln w="25400">
            <a:solidFill>
              <a:srgbClr val="62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47488" y="1828800"/>
            <a:ext cx="1737360" cy="7772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8" y="1929384"/>
            <a:ext cx="155448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YOLO-OBB labels
371 boxes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84848" y="2221992"/>
            <a:ext cx="429768" cy="0"/>
          </a:xfrm>
          <a:prstGeom prst="line">
            <a:avLst/>
          </a:prstGeom>
          <a:ln w="25400">
            <a:solidFill>
              <a:srgbClr val="62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87768" y="1828800"/>
            <a:ext cx="1737360" cy="777240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8" y="1929384"/>
            <a:ext cx="155448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Minority fill
+592 hoppers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025128" y="2221992"/>
            <a:ext cx="429768" cy="0"/>
          </a:xfrm>
          <a:prstGeom prst="line">
            <a:avLst/>
          </a:prstGeom>
          <a:ln w="25400">
            <a:solidFill>
              <a:srgbClr val="62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528048" y="1828800"/>
            <a:ext cx="1737360" cy="77724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19488" y="1929384"/>
            <a:ext cx="1554480" cy="6309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Generated text
600/class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337560"/>
            <a:ext cx="4846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plot21_datase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991" y="3337560"/>
            <a:ext cx="3586257" cy="192024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172200" y="3383280"/>
            <a:ext cx="64008" cy="1371600"/>
          </a:xfrm>
          <a:prstGeom prst="rect">
            <a:avLst/>
          </a:prstGeom>
          <a:solidFill>
            <a:srgbClr val="156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3383280"/>
            <a:ext cx="457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56F46"/>
                </a:solidFill>
                <a:latin typeface="Aptos"/>
              </a:rPr>
              <a:t>Paper-safe wording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666744"/>
            <a:ext cx="4572000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90E1C"/>
                </a:solidFill>
                <a:latin typeface="Aptos"/>
              </a:rPr>
              <a:t>The balanced export folder is described as an inspection/download artifact. The reported training run uses the sorted real dataset and synthetic fill for the rare leaf-hoppers class.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Local text, image, fusion, retrieval, and aggregation components are separated.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645920" cy="731520"/>
          </a:xfrm>
          <a:prstGeom prst="round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37944"/>
            <a:ext cx="14630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Symptom text
LLM encoder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11880"/>
            <a:ext cx="1645920" cy="731520"/>
          </a:xfrm>
          <a:prstGeom prst="roundRect">
            <a:avLst/>
          </a:prstGeom>
          <a:solidFill>
            <a:srgbClr val="156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12464"/>
            <a:ext cx="14630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Leaf image
ViT encoder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2651760"/>
            <a:ext cx="1920240" cy="86868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752344"/>
            <a:ext cx="173736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8 VLM fusion
strategies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651760"/>
            <a:ext cx="1645920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752344"/>
            <a:ext cx="1463040" cy="7223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Disease
classifier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737360"/>
            <a:ext cx="1828800" cy="731520"/>
          </a:xfrm>
          <a:prstGeom prst="roundRect">
            <a:avLst/>
          </a:prstGeom>
          <a:solidFill>
            <a:srgbClr val="E0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1837944"/>
            <a:ext cx="1645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Local FAISS
RAG advice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3611880"/>
            <a:ext cx="1828800" cy="731520"/>
          </a:xfrm>
          <a:prstGeom prst="roundRect">
            <a:avLst/>
          </a:prstGeom>
          <a:solidFill>
            <a:srgbClr val="12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3712464"/>
            <a:ext cx="1645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FedAvg server
weights only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77440" y="2103120"/>
            <a:ext cx="1280160" cy="777240"/>
          </a:xfrm>
          <a:prstGeom prst="line">
            <a:avLst/>
          </a:prstGeom>
          <a:ln w="25400">
            <a:solidFill>
              <a:srgbClr val="62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377440" y="3291840"/>
            <a:ext cx="1280160" cy="685799"/>
          </a:xfrm>
          <a:prstGeom prst="line">
            <a:avLst/>
          </a:prstGeom>
          <a:ln w="25400">
            <a:solidFill>
              <a:srgbClr val="62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577840" y="3090672"/>
            <a:ext cx="960120" cy="0"/>
          </a:xfrm>
          <a:prstGeom prst="line">
            <a:avLst/>
          </a:prstGeom>
          <a:ln w="25400">
            <a:solidFill>
              <a:srgbClr val="62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183879" y="2103120"/>
            <a:ext cx="1005841" cy="777240"/>
          </a:xfrm>
          <a:prstGeom prst="line">
            <a:avLst/>
          </a:prstGeom>
          <a:ln w="25400">
            <a:solidFill>
              <a:srgbClr val="62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183879" y="3291840"/>
            <a:ext cx="1005841" cy="685799"/>
          </a:xfrm>
          <a:prstGeom prst="line">
            <a:avLst/>
          </a:prstGeom>
          <a:ln w="25400">
            <a:solidFill>
              <a:srgbClr val="6270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1005840" y="5212080"/>
            <a:ext cx="64008" cy="6217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212080"/>
            <a:ext cx="9601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62828"/>
                </a:solidFill>
                <a:latin typeface="Aptos"/>
              </a:rPr>
              <a:t>Privacy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495544"/>
            <a:ext cx="960120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90E1C"/>
                </a:solidFill>
                <a:latin typeface="Aptos"/>
              </a:rPr>
              <a:t>Raw leaf images, symptom logs, and treatment documents remain on garden devices. The global server receives only model updates.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Training Configuration and Anti-Collapse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The final paper reports the safeguards that keep all five classes active.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8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417320"/>
          <a:ext cx="608075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612"/>
                <a:gridCol w="1459382"/>
                <a:gridCol w="2918764"/>
              </a:tblGrid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Setting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ptos"/>
                        </a:rPr>
                        <a:t>Why it matters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Centralized epochs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Stable comparison across LLM/ViT/VLM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Federated rounds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Non-IID privacy comparison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Focal loss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enabled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Focuses learning on hard/rare classes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Diversity loss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weight=1.0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Prevents one-class collapse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Class weights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sqrt damped, max 10x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Avoids over-weight instability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Hardware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Tesla T4 GPU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90E1C"/>
                          </a:solidFill>
                          <a:latin typeface="Aptos"/>
                        </a:rPr>
                        <a:t>Colab-realistic training setup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178040" y="1463040"/>
            <a:ext cx="41605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ot26_stre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587761"/>
            <a:ext cx="4160520" cy="249375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52360" y="4663440"/>
            <a:ext cx="1600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56F46"/>
                </a:solidFill>
                <a:latin typeface="Aptos Display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5102352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1" i="0">
                <a:solidFill>
                  <a:srgbClr val="090E1C"/>
                </a:solidFill>
                <a:latin typeface="Aptos"/>
              </a:rPr>
              <a:t>class diversity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4663440"/>
            <a:ext cx="13258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D7490"/>
                </a:solidFill>
                <a:latin typeface="Aptos Display"/>
              </a:rPr>
              <a:t>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510235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1" i="0">
                <a:solidFill>
                  <a:srgbClr val="090E1C"/>
                </a:solidFill>
                <a:latin typeface="Aptos"/>
              </a:rPr>
              <a:t>mixed precision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Model Families Compared Under One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5 LLM + 5 ViT + 8 VLM fusion architectures, all reported in the paper.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9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1463040"/>
          <a:ext cx="5120637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715"/>
                <a:gridCol w="716889"/>
                <a:gridCol w="1741017"/>
                <a:gridCol w="870508"/>
                <a:gridCol w="870508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Family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Count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Best model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Best F1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tos"/>
                        </a:rPr>
                        <a:t>Mean F1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LLM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BERT-tiny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0.487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0.450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EfficientNet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0.911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0.883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VLM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CLIP fusion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0.949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90E1C"/>
                          </a:solidFill>
                          <a:latin typeface="Aptos"/>
                        </a:rPr>
                        <a:t>0.915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55080" y="1417320"/>
          <a:ext cx="4846320" cy="2788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22960" y="3977639"/>
            <a:ext cx="1051560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lot04_model_type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655" y="3977639"/>
            <a:ext cx="288021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Unified Ranking: All 18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A compact table now carries the actual ranking data, not only charts.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10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1325880"/>
          <a:ext cx="539495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1344"/>
                <a:gridCol w="2535631"/>
                <a:gridCol w="1078992"/>
                <a:gridCol w="1078992"/>
              </a:tblGrid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Rank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VLM-CLIP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0.949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VLM-BLIP-2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0.937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VLM-attention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0.924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EfficientNet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0.911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VLM-flamingo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0.911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VLM-unified_io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0.911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7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ConvNeXT-tiny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0.899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VLM-gated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0.899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63640" y="1325880"/>
          <a:ext cx="530351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9457"/>
                <a:gridCol w="2492654"/>
                <a:gridCol w="1060704"/>
                <a:gridCol w="1060704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Rank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9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VLM-coca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0.899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VLM-concat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VLM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0.886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11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DeiT-tiny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0.873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12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Swin-tiny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0.873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13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ViT-Base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0.861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14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BERT-tiny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LLM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0.487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MobileBERT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LLM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0.417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4400" y="589788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090E1C"/>
                </a:solidFill>
                <a:latin typeface="Aptos"/>
              </a:rPr>
              <a:t>Takeaway: all VLM fusions beat all LLM-only models; top VLM also beats the best image-only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VLM Fusion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The model comparison now includes the eight multimodal fusion variants.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11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25880"/>
          <a:ext cx="5074919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6222"/>
                <a:gridCol w="862736"/>
                <a:gridCol w="1116482"/>
                <a:gridCol w="1319479"/>
              </a:tblGrid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Fusion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Params (M)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"/>
                        </a:rPr>
                        <a:t>Note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CLIP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0.949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15.74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Best overall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BLIP-2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0.937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15.94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Second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Attention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0.924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15.87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Strong fusion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Flamingo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0.911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16.14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Tied group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Unified-IO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0.911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17.19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Largest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Gated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0.899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15.80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Mid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41959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CoCa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0.899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16.20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Mid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41967">
                <a:tc>
                  <a:txBody>
                    <a:bodyPr/>
                    <a:lstStyle/>
                    <a:p>
                      <a:pPr algn="l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Concat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0.886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15.61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090E1C"/>
                          </a:solidFill>
                          <a:latin typeface="Aptos"/>
                        </a:rPr>
                        <a:t>Baseline fusion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172200" y="1417320"/>
            <a:ext cx="516636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ot03_vlm_fu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569" y="1417320"/>
            <a:ext cx="4721621" cy="3566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46520" y="5257800"/>
            <a:ext cx="15544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0D7490"/>
                </a:solidFill>
                <a:latin typeface="Aptos Display"/>
              </a:rPr>
              <a:t>0.063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569671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1" i="0">
                <a:solidFill>
                  <a:srgbClr val="090E1C"/>
                </a:solidFill>
                <a:latin typeface="Aptos"/>
              </a:rPr>
              <a:t>VLM F1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5257800"/>
            <a:ext cx="2148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156F46"/>
                </a:solidFill>
                <a:latin typeface="Aptos Display"/>
              </a:rPr>
              <a:t>15.61-17.19M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696712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80" b="1" i="0">
                <a:solidFill>
                  <a:srgbClr val="090E1C"/>
                </a:solidFill>
                <a:latin typeface="Aptos"/>
              </a:rPr>
              <a:t>parameter span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Encoder Baselines: Text vs Image vs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Side-by-side plots and a data table make the modality gap clear.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12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34747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lot01_ll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50" y="1371600"/>
            <a:ext cx="2888260" cy="1783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343400" y="1371600"/>
            <a:ext cx="34747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lot02_vi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630" y="1371600"/>
            <a:ext cx="2888260" cy="17830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183879" y="1371600"/>
            <a:ext cx="34747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lot03_vlm_fusion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0834" y="1371600"/>
            <a:ext cx="2360810" cy="1783080"/>
          </a:xfrm>
          <a:prstGeom prst="rect">
            <a:avLst/>
          </a:prstGeom>
        </p:spPr>
      </p:pic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14400" y="3977639"/>
          <a:ext cx="10149837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2964"/>
                <a:gridCol w="2435961"/>
                <a:gridCol w="1217980"/>
                <a:gridCol w="4262932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Best by modality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1">
                          <a:solidFill>
                            <a:srgbClr val="FFFFFF"/>
                          </a:solidFill>
                          <a:latin typeface="Aptos"/>
                        </a:rPr>
                        <a:t>Interpretation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90E1C"/>
                          </a:solidFill>
                          <a:latin typeface="Aptos"/>
                        </a:rPr>
                        <a:t>Text-only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90E1C"/>
                          </a:solidFill>
                          <a:latin typeface="Aptos"/>
                        </a:rPr>
                        <a:t>BERT-tiny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90E1C"/>
                          </a:solidFill>
                          <a:latin typeface="Aptos"/>
                        </a:rPr>
                        <a:t>0.487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90E1C"/>
                          </a:solidFill>
                          <a:latin typeface="Aptos"/>
                        </a:rPr>
                        <a:t>Symptom text is intentionally ambiguous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90E1C"/>
                          </a:solidFill>
                          <a:latin typeface="Aptos"/>
                        </a:rPr>
                        <a:t>Image-only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90E1C"/>
                          </a:solidFill>
                          <a:latin typeface="Aptos"/>
                        </a:rPr>
                        <a:t>EfficientNet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90E1C"/>
                          </a:solidFill>
                          <a:latin typeface="Aptos"/>
                        </a:rPr>
                        <a:t>0.911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90E1C"/>
                          </a:solidFill>
                          <a:latin typeface="Aptos"/>
                        </a:rPr>
                        <a:t>Visual disease cues dominate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19" b="0">
                          <a:solidFill>
                            <a:srgbClr val="090E1C"/>
                          </a:solidFill>
                          <a:latin typeface="Aptos"/>
                        </a:rPr>
                        <a:t>Multimodal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90E1C"/>
                          </a:solidFill>
                          <a:latin typeface="Aptos"/>
                        </a:rPr>
                        <a:t>VLM-CLIP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90E1C"/>
                          </a:solidFill>
                          <a:latin typeface="Aptos"/>
                        </a:rPr>
                        <a:t>0.949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19" b="0">
                          <a:solidFill>
                            <a:srgbClr val="090E1C"/>
                          </a:solidFill>
                          <a:latin typeface="Aptos"/>
                        </a:rPr>
                        <a:t>Text+image fusion adds top-line gain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FEDERATED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Centralized vs Federated: Utility Retention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The privacy-preserving setup keeps nearly all VLM performance.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13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353312"/>
          <a:ext cx="5303517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633"/>
                <a:gridCol w="1219809"/>
                <a:gridCol w="1219809"/>
                <a:gridCol w="954633"/>
                <a:gridCol w="954633"/>
              </a:tblGrid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Centralized F1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Federated F1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Retention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1">
                          <a:solidFill>
                            <a:srgbClr val="FFFFFF"/>
                          </a:solidFill>
                          <a:latin typeface="Aptos"/>
                        </a:rPr>
                        <a:t>Winner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LLM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0.427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0.460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107.7%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Federated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0.886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0.886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Tie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VLM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0.873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0.861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98.6%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90" b="0">
                          <a:solidFill>
                            <a:srgbClr val="090E1C"/>
                          </a:solidFill>
                          <a:latin typeface="Aptos"/>
                        </a:rPr>
                        <a:t>Centralized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309360" y="1325880"/>
            <a:ext cx="48920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lot05_centralized_vs_fed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683" y="1325880"/>
            <a:ext cx="3329394" cy="22402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77240" y="3886200"/>
            <a:ext cx="49377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ot27_federated_converg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7794" y="3886200"/>
            <a:ext cx="2796651" cy="1828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446520" y="3977639"/>
            <a:ext cx="64008" cy="1005840"/>
          </a:xfrm>
          <a:prstGeom prst="rect">
            <a:avLst/>
          </a:prstGeom>
          <a:solidFill>
            <a:srgbClr val="156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977639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56F46"/>
                </a:solidFill>
                <a:latin typeface="Aptos"/>
              </a:rPr>
              <a:t>Interpretation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261103"/>
            <a:ext cx="438912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90E1C"/>
                </a:solidFill>
                <a:latin typeface="Aptos"/>
              </a:rPr>
              <a:t>The federated comparison measures whether the multimodal gain survives aggregation, not whether a centrally pooled public image dataset was added.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RAG Advisory + Visual Diagnostic Fallback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Classification is paired with local treatment retrieval and annotated visual references.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14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25880"/>
            <a:ext cx="438912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ag_02_scor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47567"/>
            <a:ext cx="4389120" cy="216266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49240" y="1325880"/>
            <a:ext cx="3703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_grid_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50716"/>
            <a:ext cx="3703320" cy="3465127"/>
          </a:xfrm>
          <a:prstGeom prst="rect">
            <a:avLst/>
          </a:prstGeom>
        </p:spPr>
      </p:pic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372600" y="1508760"/>
          <a:ext cx="23317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274"/>
                <a:gridCol w="1282446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30" b="1">
                          <a:solidFill>
                            <a:srgbClr val="FFFFFF"/>
                          </a:solidFill>
                          <a:latin typeface="Aptos"/>
                        </a:rPr>
                        <a:t>RAG element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1">
                          <a:solidFill>
                            <a:srgbClr val="FFFFFF"/>
                          </a:solidFill>
                          <a:latin typeface="Aptos"/>
                        </a:rPr>
                        <a:t>Paper value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90E1C"/>
                          </a:solidFill>
                          <a:latin typeface="Aptos"/>
                        </a:rPr>
                        <a:t>Knowledge base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90E1C"/>
                          </a:solidFill>
                          <a:latin typeface="Aptos"/>
                        </a:rPr>
                        <a:t>5 disease treatment docs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90E1C"/>
                          </a:solidFill>
                          <a:latin typeface="Aptos"/>
                        </a:rPr>
                        <a:t>Retrieval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90E1C"/>
                          </a:solidFill>
                          <a:latin typeface="Aptos"/>
                        </a:rPr>
                        <a:t>Top-1 correct for all classes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90E1C"/>
                          </a:solidFill>
                          <a:latin typeface="Aptos"/>
                        </a:rPr>
                        <a:t>Fallback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90E1C"/>
                          </a:solidFill>
                          <a:latin typeface="Aptos"/>
                        </a:rPr>
                        <a:t>OBB annotated leaf reference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30" b="0">
                          <a:solidFill>
                            <a:srgbClr val="090E1C"/>
                          </a:solidFill>
                          <a:latin typeface="Aptos"/>
                        </a:rPr>
                        <a:t>Privacy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30" b="0">
                          <a:solidFill>
                            <a:srgbClr val="090E1C"/>
                          </a:solidFill>
                          <a:latin typeface="Aptos"/>
                        </a:rPr>
                        <a:t>Per-estate FAISS stays local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372600" y="3977639"/>
            <a:ext cx="64008" cy="1051560"/>
          </a:xfrm>
          <a:prstGeom prst="rect">
            <a:avLst/>
          </a:prstGeom>
          <a:solidFill>
            <a:srgbClr val="0D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3977639"/>
            <a:ext cx="2148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D7490"/>
                </a:solidFill>
                <a:latin typeface="Aptos"/>
              </a:rPr>
              <a:t>Operational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4261103"/>
            <a:ext cx="214884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90E1C"/>
                </a:solidFill>
                <a:latin typeface="Aptos"/>
              </a:rPr>
              <a:t>When symptom text is uncertain, FarmFederate gives a disease label, visual region evidence, and treatment advice without uploading raw records.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Ablation and Model Heatmap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Results stay in the results section; conclusion now only concludes.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15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61872"/>
            <a:ext cx="5760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lot13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68934"/>
            <a:ext cx="5760719" cy="4374995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629400" y="1508760"/>
          <a:ext cx="45720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40080"/>
                <a:gridCol w="731520"/>
                <a:gridCol w="1005840"/>
              </a:tblGrid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Configuration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Text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Image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Text-only BERT-tiny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0.487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Image-only EfficientNet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No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0.911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Multimodal VLM-CLIP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0.949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720840" y="3429000"/>
            <a:ext cx="4343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ot10d_modality_con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624" y="3429000"/>
            <a:ext cx="3111831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SOTA Context: Competitive Performance +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FarmFederate is near the leading group while adding multimodal FL and local RAG.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16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234440"/>
            <a:ext cx="61264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lot11_pap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516" y="1234440"/>
            <a:ext cx="5928168" cy="4480560"/>
          </a:xfrm>
          <a:prstGeom prst="rect">
            <a:avLst/>
          </a:prstGeom>
        </p:spPr>
      </p:pic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086600" y="1481328"/>
          <a:ext cx="4434838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542"/>
                <a:gridCol w="975664"/>
                <a:gridCol w="1862632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"/>
                        </a:rPr>
                        <a:t>Meaning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FarmFederate rank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#12 / 35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Top tier of compared tea/plant disease models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FarmFederate F1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0.949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Best VLM-CLIP result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Mean SOTA F1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0.892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FarmFederate exceeds benchmark mean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Best literature F1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0.995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090E1C"/>
                          </a:solidFill>
                          <a:latin typeface="Aptos"/>
                        </a:rPr>
                        <a:t>Highest image-centric tea CNN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223760" y="3977639"/>
            <a:ext cx="64008" cy="987552"/>
          </a:xfrm>
          <a:prstGeom prst="rect">
            <a:avLst/>
          </a:prstGeom>
          <a:solidFill>
            <a:srgbClr val="156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977639"/>
            <a:ext cx="38862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56F46"/>
                </a:solidFill>
                <a:latin typeface="Aptos"/>
              </a:rPr>
              <a:t>Fair positioning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4261103"/>
            <a:ext cx="3886200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90E1C"/>
                </a:solidFill>
                <a:latin typeface="Aptos"/>
              </a:rPr>
              <a:t>The paper presents FarmFederate as competitive, not universally best: its novelty is multimodal federated diagnosis with local advisory retrieval.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156F46"/>
                </a:solidFill>
                <a:latin typeface="Aptos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04672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090E1C"/>
                </a:solidFill>
                <a:latin typeface="Aptos Display"/>
              </a:rPr>
              <a:t>Deployment Notes, Limitations, and Future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7" y="1024128"/>
            <a:ext cx="88696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62707E"/>
                </a:solidFill>
                <a:latin typeface="Aptos"/>
              </a:rPr>
              <a:t>The conclusion now combines limitations and future work compactly.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62707E"/>
                </a:solidFill>
                <a:latin typeface="Aptos"/>
              </a:rPr>
              <a:t>17 /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9672"/>
            <a:ext cx="14630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>
                <a:solidFill>
                  <a:srgbClr val="62707E"/>
                </a:solidFill>
                <a:latin typeface="Aptos"/>
              </a:rPr>
              <a:t>FarmFederate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417320"/>
          <a:ext cx="6492239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/>
                <a:gridCol w="2467051"/>
                <a:gridCol w="2726740"/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Current paper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1">
                          <a:solidFill>
                            <a:srgbClr val="FFFFFF"/>
                          </a:solidFill>
                          <a:latin typeface="Aptos"/>
                        </a:rPr>
                        <a:t>Next step</a:t>
                      </a:r>
                    </a:p>
                  </a:txBody>
                  <a:tcPr marL="36576" marR="36576" marT="27432" marB="18288">
                    <a:solidFill>
                      <a:srgbClr val="121D30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5 localized tea diseases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Expand crop/disease coverage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Privacy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FedAvg, local records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Formal differential privacy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Clients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Simulated non-IID clients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Physically separated estates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Models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Colab/edge-sized encoders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Compare larger foundation VLMs</a:t>
                      </a:r>
                    </a:p>
                  </a:txBody>
                  <a:tcPr marL="36576" marR="36576" marT="27432" marB="18288">
                    <a:solidFill>
                      <a:srgbClr val="F0F8F4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Context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Weather/IoT adjustments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80" b="0">
                          <a:solidFill>
                            <a:srgbClr val="090E1C"/>
                          </a:solidFill>
                          <a:latin typeface="Aptos"/>
                        </a:rPr>
                        <a:t>Live sensor streams</a:t>
                      </a:r>
                    </a:p>
                  </a:txBody>
                  <a:tcPr marL="36576" marR="36576" marT="27432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543800" y="1536192"/>
            <a:ext cx="64008" cy="1417320"/>
          </a:xfrm>
          <a:prstGeom prst="rect">
            <a:avLst/>
          </a:prstGeom>
          <a:solidFill>
            <a:srgbClr val="156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1536192"/>
            <a:ext cx="35661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56F46"/>
                </a:solidFill>
                <a:latin typeface="Aptos"/>
              </a:rPr>
              <a:t>Deployment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1819656"/>
            <a:ext cx="3566159" cy="11338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90E1C"/>
                </a:solidFill>
                <a:latin typeface="Aptos"/>
              </a:rPr>
              <a:t>Images and symptom records stay local; ViT supports image-only diagnosis, text encoders support symptom logs, and CLIP-style fusion is used when both modalities are available.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43800" y="3703320"/>
            <a:ext cx="64008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80" y="3703320"/>
            <a:ext cx="356615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62828"/>
                </a:solidFill>
                <a:latin typeface="Aptos"/>
              </a:rPr>
              <a:t>No-Kaggle guardrail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80" y="3986784"/>
            <a:ext cx="3566159" cy="630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90E1C"/>
                </a:solidFill>
                <a:latin typeface="Aptos"/>
              </a:rPr>
              <a:t>The deck and paper state the same thing: no external Kaggle image corpus is used in the reported training pipeline.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9436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ptos Display"/>
              </a:rPr>
              <a:t>Final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09460"/>
                </a:solidFill>
                <a:latin typeface="Aptos"/>
              </a:rPr>
              <a:t>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0876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VLM-CLIP is strongest: F1=0.949 across 18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09460"/>
                </a:solidFill>
                <a:latin typeface="Aptos"/>
              </a:rPr>
              <a:t>Data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42316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E8CD"/>
                </a:solidFill>
                <a:latin typeface="Aptos"/>
              </a:rPr>
              <a:t>Reported training uses field images, minority synthetic fill, and generated symptom text; no Kaggle image corpus.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37560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09460"/>
                </a:solidFill>
                <a:latin typeface="Aptos"/>
              </a:rPr>
              <a:t>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33756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FedAvg keeps raw images, logs, and advisory documents local.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18288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09460"/>
                </a:solidFill>
                <a:latin typeface="Aptos"/>
              </a:rPr>
              <a:t>Utility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251960"/>
            <a:ext cx="8046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ptos"/>
              </a:rPr>
              <a:t>RAG + visual fallback turns classification into field-facing advice.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6016752"/>
            <a:ext cx="10789920" cy="36576"/>
          </a:xfrm>
          <a:prstGeom prst="rect">
            <a:avLst/>
          </a:prstGeom>
          <a:solidFill>
            <a:srgbClr val="309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263640"/>
            <a:ext cx="8961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BE1D7"/>
                </a:solidFill>
                <a:latin typeface="Aptos"/>
              </a:rPr>
              <a:t>Ayush Debnath · 22ME31010 · Supervisor: Prof. Sudip Misra · IIT Kharagpur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510528"/>
            <a:ext cx="64008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CBE1D7"/>
                </a:solidFill>
                <a:latin typeface="Aptos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