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Annotated boxes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C6C2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2796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5A88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Leaf Blight</c:v>
                  </c:pt>
                  <c:pt idx="1">
                    <c:v>Leaf Hoppers</c:v>
                  </c:pt>
                  <c:pt idx="2">
                    <c:v>Leaf Rust</c:v>
                  </c:pt>
                  <c:pt idx="3">
                    <c:v>Looper Caterp.</c:v>
                  </c:pt>
                  <c:pt idx="4">
                    <c:v>Mosquito Bug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</c:v>
                </c:pt>
                <c:pt idx="1">
                  <c:v>9</c:v>
                </c:pt>
                <c:pt idx="2">
                  <c:v>129</c:v>
                </c:pt>
                <c:pt idx="3">
                  <c:v>102</c:v>
                </c:pt>
                <c:pt idx="4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A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9E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2A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LLM (5 models)</c:v>
                  </c:pt>
                  <c:pt idx="1">
                    <c:v>ViT (5 models)</c:v>
                  </c:pt>
                  <c:pt idx="2">
                    <c:v>VLM (8 models)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0.487</c:v>
                </c:pt>
                <c:pt idx="1">
                  <c:v>0.911</c:v>
                </c:pt>
                <c:pt idx="2">
                  <c:v>0.949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52796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2A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LLM (5 models)</c:v>
                  </c:pt>
                  <c:pt idx="1">
                    <c:v>ViT (5 models)</c:v>
                  </c:pt>
                  <c:pt idx="2">
                    <c:v>VLM (8 models)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0.45</c:v>
                </c:pt>
                <c:pt idx="1">
                  <c:v>0.883</c:v>
                </c:pt>
                <c:pt idx="2">
                  <c:v>0.915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Worst</c:v>
                </c:pt>
              </c:strCache>
            </c:strRef>
          </c:tx>
          <c:spPr>
            <a:solidFill>
              <a:srgbClr val="BC6C2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2A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LLM (5 models)</c:v>
                  </c:pt>
                  <c:pt idx="1">
                    <c:v>ViT (5 models)</c:v>
                  </c:pt>
                  <c:pt idx="2">
                    <c:v>VLM (8 models)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0.417</c:v>
                </c:pt>
                <c:pt idx="1">
                  <c:v>0.861</c:v>
                </c:pt>
                <c:pt idx="2">
                  <c:v>0.886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50" u="none">
                  <a:solidFill>
                    <a:srgbClr val="1F2A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9E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BC6C2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F2A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CLIP</c:v>
                  </c:pt>
                  <c:pt idx="1">
                    <c:v>BLIP-2</c:v>
                  </c:pt>
                  <c:pt idx="2">
                    <c:v>Cross-Attn</c:v>
                  </c:pt>
                  <c:pt idx="3">
                    <c:v>Flamingo</c:v>
                  </c:pt>
                  <c:pt idx="4">
                    <c:v>Unified-IO</c:v>
                  </c:pt>
                  <c:pt idx="5">
                    <c:v>Gated</c:v>
                  </c:pt>
                  <c:pt idx="6">
                    <c:v>CoCa</c:v>
                  </c:pt>
                  <c:pt idx="7">
                    <c:v>Concat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0.949</c:v>
                </c:pt>
                <c:pt idx="1">
                  <c:v>0.937</c:v>
                </c:pt>
                <c:pt idx="2">
                  <c:v>0.924</c:v>
                </c:pt>
                <c:pt idx="3">
                  <c:v>0.911</c:v>
                </c:pt>
                <c:pt idx="4">
                  <c:v>0.911</c:v>
                </c:pt>
                <c:pt idx="5">
                  <c:v>0.899</c:v>
                </c:pt>
                <c:pt idx="6">
                  <c:v>0.899</c:v>
                </c:pt>
                <c:pt idx="7">
                  <c:v>0.886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50" u="none">
                  <a:solidFill>
                    <a:srgbClr val="1F2A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b"/>
        <c:majorGridlines>
          <c:spPr>
            <a:ln w="6350" cap="flat">
              <a:solidFill>
                <a:srgbClr val="E9E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Centralised</c:v>
                </c:pt>
              </c:strCache>
            </c:strRef>
          </c:tx>
          <c:spPr>
            <a:solidFill>
              <a:srgbClr val="52796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LLM</c:v>
                  </c:pt>
                  <c:pt idx="1">
                    <c:v>ViT</c:v>
                  </c:pt>
                  <c:pt idx="2">
                    <c:v>VLM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0.427</c:v>
                </c:pt>
                <c:pt idx="1">
                  <c:v>0.886</c:v>
                </c:pt>
                <c:pt idx="2">
                  <c:v>0.873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Federated</c:v>
                </c:pt>
              </c:strCache>
            </c:strRef>
          </c:tx>
          <c:spPr>
            <a:solidFill>
              <a:srgbClr val="BC6C2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LLM</c:v>
                  </c:pt>
                  <c:pt idx="1">
                    <c:v>ViT</c:v>
                  </c:pt>
                  <c:pt idx="2">
                    <c:v>VLM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0.46</c:v>
                </c:pt>
                <c:pt idx="1">
                  <c:v>0.886</c:v>
                </c:pt>
                <c:pt idx="2">
                  <c:v>0.861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F2A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9E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BC6C2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GAP-VGG19+ResNet50</c:v>
                  </c:pt>
                  <c:pt idx="1">
                    <c:v>Adaptive FDL-IWT</c:v>
                  </c:pt>
                  <c:pt idx="2">
                    <c:v>TeaNet8 (Dipty '25)</c:v>
                  </c:pt>
                  <c:pt idx="3">
                    <c:v>FarmFederate VLM (ours)</c:v>
                  </c:pt>
                  <c:pt idx="4">
                    <c:v>FarmFederate ViT (ours)</c:v>
                  </c:pt>
                  <c:pt idx="5">
                    <c:v>FedReplay (Li '25)</c:v>
                  </c:pt>
                  <c:pt idx="6">
                    <c:v>Mean SOTA (n=15)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0.995</c:v>
                </c:pt>
                <c:pt idx="1">
                  <c:v>0.978</c:v>
                </c:pt>
                <c:pt idx="2">
                  <c:v>0.971</c:v>
                </c:pt>
                <c:pt idx="3">
                  <c:v>0.949</c:v>
                </c:pt>
                <c:pt idx="4">
                  <c:v>0.911</c:v>
                </c:pt>
                <c:pt idx="5">
                  <c:v>0.866</c:v>
                </c:pt>
                <c:pt idx="6">
                  <c:v>0.892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F2A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F2A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b"/>
        <c:majorGridlines>
          <c:spPr>
            <a:ln w="6350" cap="flat">
              <a:solidFill>
                <a:srgbClr val="E9E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949440" y="3108960"/>
            <a:ext cx="2377440" cy="23774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 rot="12000000">
            <a:off x="-457200" y="-457200"/>
            <a:ext cx="2194560" cy="21945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713232"/>
            <a:ext cx="137160" cy="137160"/>
          </a:xfrm>
          <a:prstGeom prst="ellipse">
            <a:avLst/>
          </a:prstGeom>
          <a:solidFill>
            <a:srgbClr val="E9C49B"/>
          </a:solidFill>
          <a:ln/>
        </p:spPr>
      </p:sp>
      <p:sp>
        <p:nvSpPr>
          <p:cNvPr id="5" name="Text 1"/>
          <p:cNvSpPr/>
          <p:nvPr/>
        </p:nvSpPr>
        <p:spPr>
          <a:xfrm>
            <a:off x="758952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9C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PROJECT-II  ·  SPRING 2025-26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48640" y="11430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FarmFederate</a:t>
            </a:r>
            <a:endParaRPr lang="en-US" sz="6000" dirty="0"/>
          </a:p>
        </p:txBody>
      </p:sp>
      <p:sp>
        <p:nvSpPr>
          <p:cNvPr id="7" name="Text 3"/>
          <p:cNvSpPr/>
          <p:nvPr/>
        </p:nvSpPr>
        <p:spPr>
          <a:xfrm>
            <a:off x="548640" y="2148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7C9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Federated Learning for Tea Leaf Disease Detection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548640" y="2880360"/>
            <a:ext cx="1097280" cy="36576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31089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Debnath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22ME31010  ·  Mechanical Engineering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Sudip Misra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Technology Kharagpur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85800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27,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 disease detection in the real field is harder than it looks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37744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yield loss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 major tea diseases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South &amp; East Asia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237744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371600"/>
            <a:ext cx="73152" cy="23774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5087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prior 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788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images only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agronomist logs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237744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371600"/>
            <a:ext cx="73152" cy="237744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5087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35508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frameworks for tea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788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vision + 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privacy-aware diagnosis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experts already work multimodally — </a:t>
            </a:r>
            <a:pPr algn="ctr" indent="0" marL="0">
              <a:buNone/>
            </a:pPr>
            <a:r>
              <a:rPr lang="en-US" sz="1600" i="1" dirty="0">
                <a:solidFill>
                  <a:srgbClr val="1F2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combine what they see with what they write. </a:t>
            </a:r>
            <a:pPr algn="ctr" indent="0" marL="0">
              <a:buNone/>
            </a:pPr>
            <a:r>
              <a:rPr lang="en-US" sz="16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should too.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PRIOR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blind spots — and one solution that closes all of them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D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72768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726387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087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Unimodal vision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18288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SVMs, CNNs, ViTs, YOLO variants reach 92–99 % on images alone — but cannot read agronomist logs or weather context that drive real diagnosis.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D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2670048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9" y="282366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6060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Centralised assumption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17320" y="29260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reported pipeline assumes raw images can be uploaded. Estates treat cultivation data as a trade secret; many sites have constrained connectivity.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566160"/>
            <a:ext cx="8229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DD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3767328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" y="3920947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7033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Federated, but image-only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417320" y="40233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FL works (Datta '23, Hari '24, FedReplay '25) successfully decentralise vision models — none has paired leaf photos with agronomist text in a federated setting.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4636008"/>
            <a:ext cx="8229600" cy="2743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1" name="Text 16"/>
          <p:cNvSpPr/>
          <p:nvPr/>
        </p:nvSpPr>
        <p:spPr>
          <a:xfrm>
            <a:off x="457200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→  vision  +  text  +  federated  +  VLM fusion  ·  first system to combine all four for tea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23" name="Text 18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concrete deliverables in this thesis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00584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463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173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joint FL benchmark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1737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LLM × 5 ViT × 8 VLM = 18 architectures evaluated under identical non-IID conditions on a localised tea corpus.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4023360" cy="100584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6060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5603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Localised multimodal corpus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34440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IIT-KGP field photos · 371 YOLO-OBB boxes · 792 training tensors after minority fill · 3 000 agronomic text samples.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611880"/>
            <a:ext cx="4023360" cy="100584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3703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7490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7033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Classify–Retrieve–Advise RAG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34440" y="4023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Per-estate FAISS knowledge bases stay local; only model weights are aggregated via FedAvg. No raw record ever leaves the garden.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1325880"/>
            <a:ext cx="4023360" cy="100584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21" name="Text 16"/>
          <p:cNvSpPr/>
          <p:nvPr/>
        </p:nvSpPr>
        <p:spPr>
          <a:xfrm>
            <a:off x="4846320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4630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14173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Anti-collapse training stack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1737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+ entropy diversity regulariser (λ=1.0) + √-dampened class weights (cap 10×) keep all 5 classes alive under field imbalance.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709160" y="2468880"/>
            <a:ext cx="4023360" cy="100584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26" name="Text 20"/>
          <p:cNvSpPr/>
          <p:nvPr/>
        </p:nvSpPr>
        <p:spPr>
          <a:xfrm>
            <a:off x="4846320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60604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0" y="25603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preserves accuracy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0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simulated non-IID clients: LLM 107.7 %, ViT 100.0 %, VLM 98.6 % of centralised performance retained.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31" name="Text 24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FarmFederate is the first system to combine all four capabilities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914400"/>
                <a:gridCol w="914400"/>
                <a:gridCol w="128016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 '19, Bao '22, Rahman '24, Madhavi '25, Wu '25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Datta '23, Hari '24, Kumar '24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'25  (FedReplay)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'25 (LLMI-CDP), Al-Obeidat '25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FarmFederate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100" i="1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 tea/plant disease pipeline checks at most three of these boxes. FarmFederate is the first to check all four.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stages on each garden device — only weights leave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34747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624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PREPROCESS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08760" y="1828800"/>
            <a:ext cx="548640" cy="548640"/>
          </a:xfrm>
          <a:prstGeom prst="ellipse">
            <a:avLst/>
          </a:prstGeom>
          <a:solidFill>
            <a:srgbClr val="EAF1E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2379" y="198241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4688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tokenisation (≤128 tok)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 + ImageNet norm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325880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1325880"/>
            <a:ext cx="2651760" cy="34747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Text 10"/>
          <p:cNvSpPr/>
          <p:nvPr/>
        </p:nvSpPr>
        <p:spPr>
          <a:xfrm>
            <a:off x="3429000" y="13624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ENCODE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43400" y="1828800"/>
            <a:ext cx="548640" cy="548640"/>
          </a:xfrm>
          <a:prstGeom prst="ellipse">
            <a:avLst/>
          </a:prstGeom>
          <a:solidFill>
            <a:srgbClr val="EAF1E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019" y="1982419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4688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⇒ hₜ ∈ ℝ²⁵⁶  (CLS pool)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⇒ hᵥ ∈ ℝ⁵¹²  (avg pool)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325880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26480" y="1325880"/>
            <a:ext cx="2651760" cy="34747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9" name="Text 15"/>
          <p:cNvSpPr/>
          <p:nvPr/>
        </p:nvSpPr>
        <p:spPr>
          <a:xfrm>
            <a:off x="6263640" y="13624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FUSE + PREDICT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178040" y="1828800"/>
            <a:ext cx="548640" cy="548640"/>
          </a:xfrm>
          <a:prstGeom prst="ellipse">
            <a:avLst/>
          </a:prstGeom>
          <a:solidFill>
            <a:srgbClr val="EAF1E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659" y="1982419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4688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fusion ⇒ h_f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⇒ 5-way softmax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3520440"/>
            <a:ext cx="8229600" cy="1051560"/>
          </a:xfrm>
          <a:prstGeom prst="rect">
            <a:avLst/>
          </a:prstGeom>
          <a:solidFill>
            <a:srgbClr val="0F2419"/>
          </a:solidFill>
          <a:ln/>
        </p:spPr>
      </p:sp>
      <p:sp>
        <p:nvSpPr>
          <p:cNvPr id="24" name="Shape 19"/>
          <p:cNvSpPr/>
          <p:nvPr/>
        </p:nvSpPr>
        <p:spPr>
          <a:xfrm>
            <a:off x="685800" y="3767328"/>
            <a:ext cx="548640" cy="548640"/>
          </a:xfrm>
          <a:prstGeom prst="ellipse">
            <a:avLst/>
          </a:prstGeom>
          <a:solidFill>
            <a:srgbClr val="BC6C25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" y="3920947"/>
            <a:ext cx="241402" cy="24140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 layer  ·  FedAvg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371600" y="4023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 clients  ·  T = 8 rounds  ·  E = 3 local epochs  ·  Dirichlet α = 1.0 non-IID partitioning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371600" y="42793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9C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leaf images, agronomist annotations, knowledge-base docs  →  never leave the garden device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30" name="Text 24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real photos · 371 OBB boxes · 3 000 agronomic notes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YOLO-OBB instances per class (n=371)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554480"/>
          <a:ext cx="48463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40680" y="1280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40680" y="1554480"/>
            <a:ext cx="3246120" cy="68580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9" name="Shape 6"/>
          <p:cNvSpPr/>
          <p:nvPr/>
        </p:nvSpPr>
        <p:spPr>
          <a:xfrm>
            <a:off x="5440680" y="1554480"/>
            <a:ext cx="64008" cy="685800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10" name="Text 7"/>
          <p:cNvSpPr/>
          <p:nvPr/>
        </p:nvSpPr>
        <p:spPr>
          <a:xfrm>
            <a:off x="5605272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83680" y="16002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photographs from IIT KGP tea garden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40680" y="2331720"/>
            <a:ext cx="3246120" cy="68580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13" name="Shape 10"/>
          <p:cNvSpPr/>
          <p:nvPr/>
        </p:nvSpPr>
        <p:spPr>
          <a:xfrm>
            <a:off x="5440680" y="2331720"/>
            <a:ext cx="64008" cy="685800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14" name="Text 11"/>
          <p:cNvSpPr/>
          <p:nvPr/>
        </p:nvSpPr>
        <p:spPr>
          <a:xfrm>
            <a:off x="5605272" y="2377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83680" y="23774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training-run image tensors after minority fill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40680" y="3108960"/>
            <a:ext cx="3246120" cy="68580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17" name="Shape 14"/>
          <p:cNvSpPr/>
          <p:nvPr/>
        </p:nvSpPr>
        <p:spPr>
          <a:xfrm>
            <a:off x="5440680" y="3108960"/>
            <a:ext cx="64008" cy="685800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18" name="Text 15"/>
          <p:cNvSpPr/>
          <p:nvPr/>
        </p:nvSpPr>
        <p:spPr>
          <a:xfrm>
            <a:off x="5605272" y="31546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3 000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583680" y="31546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agronomic text samples (600 / class)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40680" y="3886200"/>
            <a:ext cx="3246120" cy="68580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21" name="Shape 18"/>
          <p:cNvSpPr/>
          <p:nvPr/>
        </p:nvSpPr>
        <p:spPr>
          <a:xfrm>
            <a:off x="5440680" y="3886200"/>
            <a:ext cx="64008" cy="685800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22" name="Text 19"/>
          <p:cNvSpPr/>
          <p:nvPr/>
        </p:nvSpPr>
        <p:spPr>
          <a:xfrm>
            <a:off x="5605272" y="39319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70 %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583680" y="39319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heavily-mixed templates — forces image use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VARIANTS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Joint sweep across 5 + 5 + 8 = 18 architectures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Encoders  · 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6517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D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93392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BERT-tiny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RoBERTa-tiny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ALBERT-tiny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MobileBERT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822192"/>
            <a:ext cx="228600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128 tok  ·  CLS pool  →  hₜ ∈ ℝ²⁵⁶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 – 11.1 M params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4173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 Encoders  · 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1874520"/>
            <a:ext cx="26517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D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993392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DeiT-tiny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Swin-tiny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ConvNeXT-tiny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3822192"/>
            <a:ext cx="228600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input  ·  avg pool  →  hᵥ ∈ ℝ⁵¹²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0" y="4251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– 5.0 M params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4173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VLM Fusions  · 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1874520"/>
            <a:ext cx="26517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D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993392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Flamingo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BLIP-2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Unified-IO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3822192"/>
            <a:ext cx="228600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hₜ and hᵥ into joint h_f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09360" y="4251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 – 17.2 M params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FUSION STRATEGIES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ways to combine text and image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713232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71323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3716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67335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baseline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h_f = [hₜ ; hᵥ]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023360" cy="713232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1325880"/>
            <a:ext cx="64008" cy="71323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4873752" y="13716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Cross-Attn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67335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Attention-driven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h_f = ½ (hₜ + MHA(hₜ, Wᵥhᵥ, Wᵥhᵥ))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30552"/>
            <a:ext cx="4023360" cy="713232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130552"/>
            <a:ext cx="64008" cy="71323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17627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247802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gating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22219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σ(W[hₜ; hᵥ]),  h_f = hₜ + g ⊙ Wᵥhᵥ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130552"/>
            <a:ext cx="4023360" cy="713232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130552"/>
            <a:ext cx="64008" cy="713232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217627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247802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projection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35040" y="22219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h_f = [norm(Pₜhₜ) ; norm(Pᵥhᵥ)]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935224"/>
            <a:ext cx="4023360" cy="713232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2935224"/>
            <a:ext cx="64008" cy="71323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298094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Flamingo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" y="328269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style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783080" y="30266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Perceiver(hᵥ),  h_f = GatedXAttn(hₜ, z)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935224"/>
            <a:ext cx="4023360" cy="713232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31" name="Shape 29"/>
          <p:cNvSpPr/>
          <p:nvPr/>
        </p:nvSpPr>
        <p:spPr>
          <a:xfrm>
            <a:off x="4709160" y="2935224"/>
            <a:ext cx="64008" cy="71323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2" name="Text 30"/>
          <p:cNvSpPr/>
          <p:nvPr/>
        </p:nvSpPr>
        <p:spPr>
          <a:xfrm>
            <a:off x="4873752" y="298094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BLIP-2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73752" y="328269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Q-Former bridge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30266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mean(MHA(Q, Wᵥhᵥ, Wᵥhᵥ)),  h_f = hₜ + W_q q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739896"/>
            <a:ext cx="4023360" cy="713232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3739896"/>
            <a:ext cx="64008" cy="71323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" y="378561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1792" y="40873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+ captioning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783080" y="38313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h_f = [norm(Pₜhₜ) ; norm(Pᵥhᵥ) ; MHA(hₜ, Wᵥhᵥ, Wᵥhᵥ)]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739896"/>
            <a:ext cx="4023360" cy="713232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41" name="Shape 39"/>
          <p:cNvSpPr/>
          <p:nvPr/>
        </p:nvSpPr>
        <p:spPr>
          <a:xfrm>
            <a:off x="4709160" y="3739896"/>
            <a:ext cx="64008" cy="71323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2" name="Text 40"/>
          <p:cNvSpPr/>
          <p:nvPr/>
        </p:nvSpPr>
        <p:spPr>
          <a:xfrm>
            <a:off x="4873752" y="378561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Unified-IO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73752" y="40873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Modality-embedded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35040" y="38313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h_f = TransEnc([hₜ + eₜ ; hᵥ + eᵥ])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CLIP-style contrastive fusion is the eventual top performer (F1 = 0.949)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TRAINING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FedAvg with anti-collapse safeguards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324612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FedAvg recipe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6C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min_θ  Σₖ (nₖ / n) · 𝓛ₖ(θ)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 clients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8 rounds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3 local epochs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Dirichlet α = 1.0  ·  non-IID partition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Server broadcasts θᵗ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Each client trains locally for E epochs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Server aggregates:  θᵗ⁺¹ ← Σₖ (nₖ/n) θᵏᵗ⁺¹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32461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Anti-collapse stack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C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𝓛 = 𝓛_focal + 𝓛_div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258568"/>
            <a:ext cx="128016" cy="128016"/>
          </a:xfrm>
          <a:prstGeom prst="ellipse">
            <a:avLst/>
          </a:prstGeom>
          <a:solidFill>
            <a:srgbClr val="E9C49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1945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 γ = 2.0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3957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easy examples; label smoothing ε = 0.1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2715768"/>
            <a:ext cx="128016" cy="128016"/>
          </a:xfrm>
          <a:prstGeom prst="ellipse">
            <a:avLst/>
          </a:prstGeom>
          <a:solidFill>
            <a:srgbClr val="E9C49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6517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regulariser  λ = 1.0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8529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penalty + confidence cap; 70 % entropy threshold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3172968"/>
            <a:ext cx="128016" cy="128016"/>
          </a:xfrm>
          <a:prstGeom prst="ellipse">
            <a:avLst/>
          </a:prstGeom>
          <a:solidFill>
            <a:srgbClr val="E9C49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1089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√-dampened class weights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3101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αc = min(√(n/Cnc), 10×) — caps minority over-weighting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3630168"/>
            <a:ext cx="128016" cy="128016"/>
          </a:xfrm>
          <a:prstGeom prst="ellipse">
            <a:avLst/>
          </a:prstGeom>
          <a:solidFill>
            <a:srgbClr val="E9C49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5661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batch sampler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7673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class quota per mini-batch via oversampling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4087368"/>
            <a:ext cx="128016" cy="128016"/>
          </a:xfrm>
          <a:prstGeom prst="ellipse">
            <a:avLst/>
          </a:prstGeom>
          <a:solidFill>
            <a:srgbClr val="E9C49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40233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collapse abort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224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halts after 3 epochs of &gt;85 % single-class predictions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DIAGNOSIS MODULE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 → Retrieve → Advise — knowledge stays local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54480" cy="137160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356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764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optional photo + IoT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56816" y="185623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157984" y="1371600"/>
            <a:ext cx="1554480" cy="137160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11" name="Text 9"/>
          <p:cNvSpPr/>
          <p:nvPr/>
        </p:nvSpPr>
        <p:spPr>
          <a:xfrm>
            <a:off x="2249424" y="14356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49424" y="1764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9424" y="20848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 (MiniLM-L6-v2)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185623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3858768" y="1371600"/>
            <a:ext cx="1554480" cy="137160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16" name="Text 14"/>
          <p:cNvSpPr/>
          <p:nvPr/>
        </p:nvSpPr>
        <p:spPr>
          <a:xfrm>
            <a:off x="3950208" y="14356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50208" y="1764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50208" y="20848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top-k cosine over local KB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58384" y="185623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5559552" y="1371600"/>
            <a:ext cx="1554480" cy="137160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21" name="Text 19"/>
          <p:cNvSpPr/>
          <p:nvPr/>
        </p:nvSpPr>
        <p:spPr>
          <a:xfrm>
            <a:off x="5650992" y="14356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50992" y="1764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VLM re-rank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50992" y="20848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image-guided  via h_f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59168" y="185623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7260336" y="1371600"/>
            <a:ext cx="1554480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6" name="Text 24"/>
          <p:cNvSpPr/>
          <p:nvPr/>
        </p:nvSpPr>
        <p:spPr>
          <a:xfrm>
            <a:off x="7351776" y="14356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C4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51776" y="1764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51776" y="20848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IoT-adjusted High/Med/Low actions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971800"/>
            <a:ext cx="8229600" cy="91440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Re-ranked score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2918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s_j  =  0.55 · r_j  +  0.35 · p_c(j)  +  β_iot(c(j), s)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similarity  ·  VLM posterior  ·  rule-based IoT boost (humidity, soil moisture, EC)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0F2419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9C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Per-estate FAISS knowledge bases never leave the garden — only model weights are aggregated.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DIAGNOSTIC FALLBACK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field log is text-only, give the agronomist a picture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symptom descriptions can be ambiguous — "brown spotting on lower leaves" matches three diseases.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fallback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87752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RAG predicts the most-likely disease, the system pulls a representative leaf photo and overlays its YOLO-OBB polygons in class-specific colours — instant visual reference.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371600"/>
            <a:ext cx="1783080" cy="1371600"/>
          </a:xfrm>
          <a:prstGeom prst="rect">
            <a:avLst/>
          </a:prstGeom>
          <a:solidFill>
            <a:srgbClr val="3F6F4C"/>
          </a:solidFill>
          <a:ln/>
        </p:spPr>
      </p:sp>
      <p:sp>
        <p:nvSpPr>
          <p:cNvPr id="10" name="Shape 8"/>
          <p:cNvSpPr/>
          <p:nvPr/>
        </p:nvSpPr>
        <p:spPr>
          <a:xfrm>
            <a:off x="5257800" y="1783080"/>
            <a:ext cx="1051560" cy="502920"/>
          </a:xfrm>
          <a:prstGeom prst="rect">
            <a:avLst/>
          </a:prstGeom>
          <a:solidFill>
            <a:srgbClr val="67B7DC">
              <a:alpha val="35000"/>
            </a:srgbClr>
          </a:solidFill>
          <a:ln w="25400">
            <a:solidFill>
              <a:srgbClr val="67B7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2450592"/>
            <a:ext cx="1691640" cy="246888"/>
          </a:xfrm>
          <a:prstGeom prst="rect">
            <a:avLst/>
          </a:prstGeom>
          <a:solidFill>
            <a:srgbClr val="0F2419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245059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7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BLIGHT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12280" y="1371600"/>
            <a:ext cx="1783080" cy="1371600"/>
          </a:xfrm>
          <a:prstGeom prst="rect">
            <a:avLst/>
          </a:prstGeom>
          <a:solidFill>
            <a:srgbClr val="55855E"/>
          </a:solidFill>
          <a:ln/>
        </p:spPr>
      </p:sp>
      <p:sp>
        <p:nvSpPr>
          <p:cNvPr id="14" name="Shape 12"/>
          <p:cNvSpPr/>
          <p:nvPr/>
        </p:nvSpPr>
        <p:spPr>
          <a:xfrm rot="480000">
            <a:off x="7178040" y="1783080"/>
            <a:ext cx="1051560" cy="502920"/>
          </a:xfrm>
          <a:prstGeom prst="rect">
            <a:avLst/>
          </a:prstGeom>
          <a:solidFill>
            <a:srgbClr val="F5C84A">
              <a:alpha val="35000"/>
            </a:srgbClr>
          </a:solidFill>
          <a:ln w="25400">
            <a:solidFill>
              <a:srgbClr val="F5C8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2450592"/>
            <a:ext cx="1691640" cy="246888"/>
          </a:xfrm>
          <a:prstGeom prst="rect">
            <a:avLst/>
          </a:prstGeom>
          <a:solidFill>
            <a:srgbClr val="0F241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45059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HOPPERS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37760" y="2834640"/>
            <a:ext cx="1783080" cy="1371600"/>
          </a:xfrm>
          <a:prstGeom prst="rect">
            <a:avLst/>
          </a:prstGeom>
          <a:solidFill>
            <a:srgbClr val="2D5A3F"/>
          </a:solidFill>
          <a:ln/>
        </p:spPr>
      </p:sp>
      <p:sp>
        <p:nvSpPr>
          <p:cNvPr id="18" name="Shape 16"/>
          <p:cNvSpPr/>
          <p:nvPr/>
        </p:nvSpPr>
        <p:spPr>
          <a:xfrm rot="-300000">
            <a:off x="5349240" y="3246120"/>
            <a:ext cx="1051560" cy="502920"/>
          </a:xfrm>
          <a:prstGeom prst="rect">
            <a:avLst/>
          </a:prstGeom>
          <a:solidFill>
            <a:srgbClr val="5CB85C">
              <a:alpha val="35000"/>
            </a:srgbClr>
          </a:solidFill>
          <a:ln w="25400">
            <a:solidFill>
              <a:srgbClr val="5CB8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3480" y="3913632"/>
            <a:ext cx="1691640" cy="246888"/>
          </a:xfrm>
          <a:prstGeom prst="rect">
            <a:avLst/>
          </a:prstGeom>
          <a:solidFill>
            <a:srgbClr val="0F2419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91363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RUST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12280" y="2834640"/>
            <a:ext cx="1783080" cy="1371600"/>
          </a:xfrm>
          <a:prstGeom prst="rect">
            <a:avLst/>
          </a:prstGeom>
          <a:solidFill>
            <a:srgbClr val="658260"/>
          </a:solidFill>
          <a:ln/>
        </p:spPr>
      </p:sp>
      <p:sp>
        <p:nvSpPr>
          <p:cNvPr id="22" name="Shape 20"/>
          <p:cNvSpPr/>
          <p:nvPr/>
        </p:nvSpPr>
        <p:spPr>
          <a:xfrm>
            <a:off x="7269480" y="3246120"/>
            <a:ext cx="1051560" cy="502920"/>
          </a:xfrm>
          <a:prstGeom prst="rect">
            <a:avLst/>
          </a:prstGeom>
          <a:solidFill>
            <a:srgbClr val="B85042">
              <a:alpha val="35000"/>
            </a:srgbClr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3913632"/>
            <a:ext cx="1691640" cy="246888"/>
          </a:xfrm>
          <a:prstGeom prst="rect">
            <a:avLst/>
          </a:prstGeom>
          <a:solidFill>
            <a:srgbClr val="0F2419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91363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LOOPER CATERP.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3776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preview of OBB-annotated examples · class-coloured polygons + readable tags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FAMILY 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fusion is the dominant strategy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56692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325880"/>
            <a:ext cx="2286000" cy="324612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7" name="Text 4"/>
          <p:cNvSpPr/>
          <p:nvPr/>
        </p:nvSpPr>
        <p:spPr>
          <a:xfrm>
            <a:off x="65379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37960" y="16642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0.949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53796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CLIP-style VLM fusion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37960" y="2697480"/>
            <a:ext cx="20116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2788920"/>
            <a:ext cx="2057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+0.038 </a:t>
            </a:r>
            <a:pPr indent="0" marL="0">
              <a:buNone/>
            </a:pPr>
            <a:r>
              <a:rPr lang="en-US" sz="10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best image-only (EfficientNet)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+0.462 </a:t>
            </a:r>
            <a:pPr indent="0" marL="0">
              <a:buNone/>
            </a:pPr>
            <a:r>
              <a:rPr lang="en-US" sz="10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best text-only (BERT-tiny)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</a:t>
            </a:r>
            <a:pPr indent="0" marL="0">
              <a:buNone/>
            </a:pPr>
            <a:r>
              <a:rPr lang="en-US" sz="1000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— no class collapse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FUSION RANKING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strategies head-to-head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CLIP performance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00200"/>
          <a:ext cx="25603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02920"/>
                <a:gridCol w="502920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Blight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Hoppers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Rust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Looper Caterp.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Mosquito Bug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classes clear F1 ≥ 0.90 — multimodal evidence resolves the visual ambiguities image-only models stumble on.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10" name="Text 6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VS CENTRALISED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without an accuracy tax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51206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retention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852160" y="1627632"/>
            <a:ext cx="2834640" cy="68580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8" name="Shape 5"/>
          <p:cNvSpPr/>
          <p:nvPr/>
        </p:nvSpPr>
        <p:spPr>
          <a:xfrm>
            <a:off x="5852160" y="1627632"/>
            <a:ext cx="64008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6"/>
          <p:cNvSpPr/>
          <p:nvPr/>
        </p:nvSpPr>
        <p:spPr>
          <a:xfrm>
            <a:off x="5989320" y="170078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629400" y="1673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107.7 %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29400" y="2011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smooths overfitting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0" y="2404872"/>
            <a:ext cx="2834640" cy="68580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13" name="Shape 10"/>
          <p:cNvSpPr/>
          <p:nvPr/>
        </p:nvSpPr>
        <p:spPr>
          <a:xfrm>
            <a:off x="5852160" y="2404872"/>
            <a:ext cx="64008" cy="685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4" name="Text 11"/>
          <p:cNvSpPr/>
          <p:nvPr/>
        </p:nvSpPr>
        <p:spPr>
          <a:xfrm>
            <a:off x="5989320" y="247802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629400" y="2450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100.0 %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29400" y="2788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to centralised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52160" y="3182112"/>
            <a:ext cx="2834640" cy="68580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18" name="Shape 15"/>
          <p:cNvSpPr/>
          <p:nvPr/>
        </p:nvSpPr>
        <p:spPr>
          <a:xfrm>
            <a:off x="5852160" y="3182112"/>
            <a:ext cx="64008" cy="685800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325526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VLM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629400" y="32278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98.6 %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629400" y="3566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−0.012 F1, fully recovered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85216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retention 102.1 %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ABLATION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modalities pull their weight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527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0.487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F2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BERT-tiny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70 % heavily-mixed templates that prevent trivial keyword classification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4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IMAGE-ONLY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0.911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47472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F2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EfficientNet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246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but the five diseases share similar green-leaf backgrounds, capping the ceiling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3200400"/>
          </a:xfrm>
          <a:prstGeom prst="rect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C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0.949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0936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CLIP-style VLM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246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guides attention to diagnostic regions; images resolve text ambiguities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PLACEMENT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Top-tier classification + properties prior work omits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5943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1325880"/>
            <a:ext cx="2148840" cy="32461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Text 4"/>
          <p:cNvSpPr/>
          <p:nvPr/>
        </p:nvSpPr>
        <p:spPr>
          <a:xfrm>
            <a:off x="6675120" y="1417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C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others miss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7512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49440" y="1810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reasoning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0" y="20299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agronomist text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7512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49440" y="23134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49440" y="25328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FedAvg, no raw upload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67512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49440" y="28163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advisory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49440" y="30358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treatment ranking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67512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49440" y="3319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IoT-aware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949440" y="3538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/ soil / EC fusion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67512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949440" y="3822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scope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949440" y="40416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GPU, 18 architectures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clears the n=15 SOTA mean of 0.892 while adding properties no other method ships together.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" cy="118872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0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delivered — and what comes next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3246120"/>
          </a:xfrm>
          <a:prstGeom prst="rect">
            <a:avLst/>
          </a:prstGeom>
          <a:solidFill>
            <a:srgbClr val="EAF1ED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63040"/>
            <a:ext cx="365760" cy="3657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3" y="1565453"/>
            <a:ext cx="160934" cy="1609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beats unimodal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CLIP-VLM 0.949 &gt; EfficientNet 0.911 &gt; BERT-tiny 0.487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≈ centralised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102.1 % avg retention across 3 non-IID clients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Anti-collapse stack works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class diversity across all 18 architectures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closes the loop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FAISS + IoT → actionable advisory, no upload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32461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Shape 8"/>
          <p:cNvSpPr/>
          <p:nvPr/>
        </p:nvSpPr>
        <p:spPr>
          <a:xfrm>
            <a:off x="4800600" y="1463040"/>
            <a:ext cx="365760" cy="365760"/>
          </a:xfrm>
          <a:prstGeom prst="ellipse">
            <a:avLst/>
          </a:prstGeom>
          <a:solidFill>
            <a:srgbClr val="BC6C2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013" y="1565453"/>
            <a:ext cx="160934" cy="1609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846320" y="2029968"/>
            <a:ext cx="128016" cy="128016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5" name="Text 11"/>
          <p:cNvSpPr/>
          <p:nvPr/>
        </p:nvSpPr>
        <p:spPr>
          <a:xfrm>
            <a:off x="5029200" y="19659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0" y="21671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ε-DP guarantees on top of FedAvg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846320" y="2532888"/>
            <a:ext cx="128016" cy="128016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18" name="Text 14"/>
          <p:cNvSpPr/>
          <p:nvPr/>
        </p:nvSpPr>
        <p:spPr>
          <a:xfrm>
            <a:off x="5029200" y="24688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deployment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0" y="26700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separated gardens; cross-cultivar drift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846320" y="3035808"/>
            <a:ext cx="128016" cy="128016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21" name="Text 17"/>
          <p:cNvSpPr/>
          <p:nvPr/>
        </p:nvSpPr>
        <p:spPr>
          <a:xfrm>
            <a:off x="5029200" y="29718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crop coverage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31729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5 tea diseases to other cash crops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846320" y="3538728"/>
            <a:ext cx="128016" cy="128016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24" name="Text 20"/>
          <p:cNvSpPr/>
          <p:nvPr/>
        </p:nvSpPr>
        <p:spPr>
          <a:xfrm>
            <a:off x="5029200" y="34747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FL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029200" y="36758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garden-specific models with live IoT streams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846320" y="4041648"/>
            <a:ext cx="128016" cy="128016"/>
          </a:xfrm>
          <a:prstGeom prst="ellipse">
            <a:avLst/>
          </a:prstGeom>
          <a:solidFill>
            <a:srgbClr val="BC6C25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0" y="39776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VLMs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029200" y="41788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communication / latency / memory trade-offs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65760" y="4956048"/>
            <a:ext cx="8412480" cy="9144"/>
          </a:xfrm>
          <a:prstGeom prst="rect">
            <a:avLst/>
          </a:prstGeom>
          <a:solidFill>
            <a:srgbClr val="D6DDD6"/>
          </a:solidFill>
          <a:ln/>
        </p:spPr>
      </p:sp>
      <p:sp>
        <p:nvSpPr>
          <p:cNvPr id="30" name="Text 26"/>
          <p:cNvSpPr/>
          <p:nvPr/>
        </p:nvSpPr>
        <p:spPr>
          <a:xfrm>
            <a:off x="365760" y="49834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FarmFederate  ·  Multimodal Federated Learning for Tea Leaf Disease Detection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22376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7040880" y="3108960"/>
            <a:ext cx="2377440" cy="23774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 rot="12000000">
            <a:off x="-365760" y="-365760"/>
            <a:ext cx="2194560" cy="21945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E9C49B"/>
          </a:solidFill>
          <a:ln/>
        </p:spPr>
      </p:sp>
      <p:sp>
        <p:nvSpPr>
          <p:cNvPr id="5" name="Text 1"/>
          <p:cNvSpPr/>
          <p:nvPr/>
        </p:nvSpPr>
        <p:spPr>
          <a:xfrm>
            <a:off x="7772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9C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FarmFederate</a:t>
            </a:r>
            <a:endParaRPr lang="en-US" sz="6400" dirty="0"/>
          </a:p>
        </p:txBody>
      </p:sp>
      <p:sp>
        <p:nvSpPr>
          <p:cNvPr id="7" name="Text 3"/>
          <p:cNvSpPr/>
          <p:nvPr/>
        </p:nvSpPr>
        <p:spPr>
          <a:xfrm>
            <a:off x="54864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7C9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· Federated · Privacy-preserving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548640" y="3291840"/>
            <a:ext cx="1097280" cy="36576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3474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Debnath  ·  22ME31010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Sudip Misra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7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Engineering, IIT Kharagpur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FarmFederate — Multimodal Federated Learning for Tea Leaf Disease Detection</dc:title>
  <dc:subject>PptxGenJS Presentation</dc:subject>
  <dc:creator>Ayush Debnath</dc:creator>
  <cp:lastModifiedBy>Ayush Debnath</cp:lastModifiedBy>
  <cp:revision>1</cp:revision>
  <dcterms:created xsi:type="dcterms:W3CDTF">2026-04-28T12:52:43Z</dcterms:created>
  <dcterms:modified xsi:type="dcterms:W3CDTF">2026-04-28T12:52:43Z</dcterms:modified>
</cp:coreProperties>
</file>