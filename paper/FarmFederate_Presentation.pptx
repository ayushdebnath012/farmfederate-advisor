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FarmFederate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5D6A7"/>
                </a:solidFill>
              </a:rPr>
              <a:t>Federated LLM, ViT, and VLM for Privacy-Preserving Crop Stress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Ayush Debnath · Ruelia Saha · Sudip Misra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2743200" cy="6400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474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Federated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5029200"/>
            <a:ext cx="2743200" cy="6400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50474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Federated ViT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5029200"/>
            <a:ext cx="2743200" cy="6400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0474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Federated VLM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Why existing crop stress AI falls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▸  Crop stress (drought, disease, pests, heat) causes 20–40% yield loss globally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▸  Existing AI methods are CENTRALIZED — farms must share 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103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▸  Farms refuse to share data: privacy laws, competitive sensitivity, bandwidth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22575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▸  Most methods are UNIMODAL — image-only or text-only, not both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7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</a:rPr>
              <a:t>▸  No prior work compares Federated LLM vs ViT vs VLM as independent paradigms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280160"/>
            <a:ext cx="3383280" cy="4572000"/>
          </a:xfrm>
          <a:prstGeom prst="rect">
            <a:avLst/>
          </a:prstGeom>
          <a:solidFill>
            <a:srgbClr val="FFF9C4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Real-World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7830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Farm A (Punjab) has drought data.
Farm B (Kerala) has disease data.
Farm C (UP) has pest data.
Centralized: all must upload photos to one server.
FarmFederate: only model weights travel — raw images stay on-farm.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FarmFederate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Three independent federated paradigms, one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566160" cy="5212080"/>
          </a:xfrm>
          <a:prstGeom prst="rect">
            <a:avLst/>
          </a:prstGeom>
          <a:solidFill>
            <a:srgbClr val="FAFAFA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50292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Federated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Text: symptom descriptions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Federated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169E1"/>
                </a:solidFill>
              </a:rPr>
              <a:t>0.548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Fed/Cent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</a:rPr>
              <a:t>92.9%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566160" cy="5212080"/>
          </a:xfrm>
          <a:prstGeom prst="rect">
            <a:avLst/>
          </a:prstGeom>
          <a:solidFill>
            <a:srgbClr val="FAFAFA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566160" cy="5029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2527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Federated 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801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Image: crop photographs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Federated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8B22"/>
                </a:solidFill>
              </a:rPr>
              <a:t>0.659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Fed/Cent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2606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</a:rPr>
              <a:t>86.1%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234440"/>
            <a:ext cx="3566160" cy="5212080"/>
          </a:xfrm>
          <a:prstGeom prst="rect">
            <a:avLst/>
          </a:prstGeom>
          <a:solidFill>
            <a:srgbClr val="FAFAFA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234440"/>
            <a:ext cx="3566160" cy="50292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2527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Federated VLM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801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Text + Image multimodal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Federated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06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22222"/>
                </a:solidFill>
              </a:rPr>
              <a:t>0.785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Fed/Cent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606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</a:rPr>
              <a:t>92.6%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Common: FedAvg · K=3 clients · T=8 rounds · E=3 local epochs · 5-class crop stress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Paradigm 1 — Federated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Distributed text classification of crop symptom descriptions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69E1"/>
                </a:solidFill>
              </a:rPr>
              <a:t>5 LLM Encoder 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0292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7335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Cent.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7335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169E1"/>
                </a:solidFill>
              </a:rPr>
              <a:t>Fed.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DistilBERT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4884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0.571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14884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169E1"/>
                </a:solidFill>
              </a:rPr>
              <a:t>0.530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96896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2432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BERT-tiny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243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0.585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6243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169E1"/>
                </a:solidFill>
              </a:rPr>
              <a:t>0.543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72384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9981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RoBERTa-tiny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09981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0.585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09981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169E1"/>
                </a:solidFill>
              </a:rPr>
              <a:t>0.541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47872"/>
            <a:ext cx="502920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7530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ALBERT-tiny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0.590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57530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169E1"/>
                </a:solidFill>
              </a:rPr>
              <a:t>0.548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507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MobileBERT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050791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0.535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050791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169E1"/>
                </a:solidFill>
              </a:rPr>
              <a:t>0.497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69E1"/>
                </a:solidFill>
              </a:rPr>
              <a:t>Key Findings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645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Most federation-robust paradigm (7.1% accuracy drop)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9933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Text features degrade minimally under non-IID partitioning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3408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100% prediction diversity maintained across all rounds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6883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Ideal for bandwidth-limited or low-compute deployments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023360"/>
            <a:ext cx="594360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0965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169E1"/>
                </a:solidFill>
              </a:rPr>
              <a:t>Example Prediction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48056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Input text:  "Brown spots on leaf margins, leaves curling upward, dry cracked soil near base of plant"
Federated LLM prediction →  Disease Risk  (61% confidence)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Paradigm 2 — Federated 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Distributed image classification of crop photographs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0292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7335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Cent.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7335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8B22"/>
                </a:solidFill>
              </a:rPr>
              <a:t>Fed. 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21408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ViT-Base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4884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0.696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4884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8B22"/>
                </a:solidFill>
              </a:rPr>
              <a:t>0.599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2432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DeiT-tiny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243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0.747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243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8B22"/>
                </a:solidFill>
              </a:rPr>
              <a:t>0.643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72384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9981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Swin-tiny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09981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0.724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9981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8B22"/>
                </a:solidFill>
              </a:rPr>
              <a:t>0.623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47872"/>
            <a:ext cx="502920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7530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ConvNeXT-tiny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57530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0.765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57530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8B22"/>
                </a:solidFill>
              </a:rPr>
              <a:t>0.659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0791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EfficientNet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050791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0.724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50791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8B22"/>
                </a:solidFill>
              </a:rPr>
              <a:t>0.623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B22"/>
                </a:solidFill>
              </a:rPr>
              <a:t>Key Findings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1645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Highest unimodal accuracy (centralized F1 = 0.765)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9933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Largest federated gap (13.9%) — visual features are non-IID sensitive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3408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Residual CNN encoders with batch norm + spatial dropout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6883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▸  Future fix: FedBN or pretrained ViT weights with LoRA fine-tuning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023360"/>
            <a:ext cx="5943600" cy="2011680"/>
          </a:xfrm>
          <a:prstGeom prst="rect">
            <a:avLst/>
          </a:prstGeom>
          <a:solidFill>
            <a:srgbClr val="F1F8E9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0965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8B22"/>
                </a:solidFill>
              </a:rPr>
              <a:t>Example 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48056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Input image:  224×224 crop photo — pale greenish-yellow leaves,
drooping stems, vertical stripe pattern visible
Federated ViT prediction →  Water Stress  (73% confidence)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Paradigm 3 — Federated VLM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Distributed multimodal fusion of text +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303520" cy="41148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73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73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</a:rPr>
              <a:t>Cent.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73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2222"/>
                </a:solidFill>
              </a:rPr>
              <a:t>Fed. 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75688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Concatenation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0.797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328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Cross-Attention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328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0.807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5328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35224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62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Gated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626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0.779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626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64991"/>
            <a:ext cx="5303520" cy="411480"/>
          </a:xfrm>
          <a:prstGeom prst="rect">
            <a:avLst/>
          </a:prstGeom>
          <a:solidFill>
            <a:srgbClr val="FFCDD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924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CLIP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3924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0.848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3924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94759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221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Flamingo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822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0.816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822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0.755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24528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BLIP-2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251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0.834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251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0.771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54296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81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6817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0.783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6817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084064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1114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Unified-IO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1114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0.802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1114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0.743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2222"/>
                </a:solidFill>
              </a:rPr>
              <a:t>Key Findings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1645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Best absolute federated F1 = 0.785 (CLIP fusion)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19933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Fed/Cent ratio = 92.6% — comparable to Federated 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23408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CLIP contrastive alignment outperforms complex Q-Former (BLIP-2)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26883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Multimodal gain: +0.083 over best unimodal (ViT), +0.237 over LLM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0358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Recommended paradigm when compute is available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4160520"/>
            <a:ext cx="5943600" cy="1920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233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</a:rPr>
              <a:t>Example Prediction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636008"/>
            <a:ext cx="5669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Image: small circular holes in leaves, sticky residue on stems
Text:  "whitish deposits under leaves, plant stunted"
Federated VLM (CLIP) →  Pest Risk  (84.8% confidence)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Cross-Paradigm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Which federated paradigm wins and when?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8288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Paradigm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234440"/>
            <a:ext cx="14630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252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Cent. 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234440"/>
            <a:ext cx="14630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252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Fed.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34440"/>
            <a:ext cx="13716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2527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Fed/Cent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118872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527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234440"/>
            <a:ext cx="429768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2527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27632"/>
            <a:ext cx="18288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6642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Federated 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627632"/>
            <a:ext cx="146304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39" y="166420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0.590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627632"/>
            <a:ext cx="146304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79" y="166420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169E1"/>
                </a:solidFill>
              </a:rPr>
              <a:t>0.548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627632"/>
            <a:ext cx="13716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166420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169E1"/>
                </a:solidFill>
              </a:rPr>
              <a:t>92.9%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27632"/>
            <a:ext cx="1188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66420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7.1%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1627632"/>
            <a:ext cx="42976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166420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</a:rPr>
              <a:t>Most federation-robust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157984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19456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Federated ViT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2157984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21945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0.765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2157984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79" y="21945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8B22"/>
                </a:solidFill>
              </a:rPr>
              <a:t>0.659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157984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21945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8B22"/>
                </a:solidFill>
              </a:rPr>
              <a:t>86.1%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19456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13.9%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2157984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219456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</a:rPr>
              <a:t>Best unimodal accuracy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688336"/>
            <a:ext cx="18288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72491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Federated VLM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2688336"/>
            <a:ext cx="146304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8839" y="272491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0.848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2688336"/>
            <a:ext cx="146304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79" y="272491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2222"/>
                </a:solidFill>
              </a:rPr>
              <a:t>0.785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2688336"/>
            <a:ext cx="13716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272491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2222"/>
                </a:solidFill>
              </a:rPr>
              <a:t>92.6%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688336"/>
            <a:ext cx="1188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72491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7.4%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2688336"/>
            <a:ext cx="42976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272491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</a:rPr>
              <a:t>Best overall 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429000"/>
            <a:ext cx="11612880" cy="2651760"/>
          </a:xfrm>
          <a:prstGeom prst="rect">
            <a:avLst/>
          </a:prstGeom>
          <a:solidFill>
            <a:srgbClr val="F9FBE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502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Decision 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9136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Use Federated LLM  →  bandwidth-constrained farms, text-rich sensor logs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26110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Use Federated ViT  →  image-heavy setups, future FedBN aggregation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60857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Use Federated VLM  →  when compute &amp; dual-modality data are available (recommended)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Anti-Collapse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Real data + robust training for all three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5-Class Crop Stress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566928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Water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916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Drought, wilting, stomatal closure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31136"/>
            <a:ext cx="566928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Nutrient Def.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25856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Chlorosis, stunted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98064"/>
            <a:ext cx="566928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254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Pest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82549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Holes, sticky residue, webbing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64991"/>
            <a:ext cx="566928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9242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Disease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3924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Lesions, spots, fungal/bacterial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66928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593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Heat 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935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Leaf scorch, tip burn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0916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Text: AG News + PubMed + SQuAD → ~1,089 balanced samples
Images: PlantVillage + Beans (real) + Synthetic (tuned difficulty)
Original imbalance: 25:1 (disease:heat) → rebalanced via capping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2222"/>
                </a:solidFill>
              </a:rPr>
              <a:t>Anti-Collapse Mechanisms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64208"/>
            <a:ext cx="5394960" cy="960120"/>
          </a:xfrm>
          <a:prstGeom prst="rect">
            <a:avLst/>
          </a:prstGeom>
          <a:solidFill>
            <a:srgbClr val="FFEBEE"/>
          </a:solidFill>
          <a:ln w="63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691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</a:rPr>
              <a:t>Balanced Batch 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07568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Equal class samples per batch via oversampling minorities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70048"/>
            <a:ext cx="5394960" cy="960120"/>
          </a:xfrm>
          <a:prstGeom prst="rect">
            <a:avLst/>
          </a:prstGeom>
          <a:solidFill>
            <a:srgbClr val="FFEBEE"/>
          </a:solidFill>
          <a:ln w="63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97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</a:rPr>
              <a:t>Diversity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815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Penalizes low entropy: λ=1.0, 70% threshold (Eq. 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675888"/>
            <a:ext cx="5394960" cy="960120"/>
          </a:xfrm>
          <a:prstGeom prst="rect">
            <a:avLst/>
          </a:prstGeom>
          <a:solidFill>
            <a:srgbClr val="FFEBEE"/>
          </a:solidFill>
          <a:ln w="63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703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</a:rPr>
              <a:t>Early Collapse Abort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087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Stops after 3 consecutive collapsed epochs, restores best ckpt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681728"/>
            <a:ext cx="5394960" cy="960120"/>
          </a:xfrm>
          <a:prstGeom prst="rect">
            <a:avLst/>
          </a:prstGeom>
          <a:solidFill>
            <a:srgbClr val="FFEBEE"/>
          </a:solidFill>
          <a:ln w="63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709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</a:rPr>
              <a:t>Focal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0932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Down-weights easy majority class (γ=2.0, sqrt class weights)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715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Result: 100% prediction diversity maintained across all 24 trained models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Key numbers across all three federated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2103120"/>
          </a:xfrm>
          <a:prstGeom prst="rect">
            <a:avLst/>
          </a:prstGeom>
          <a:solidFill>
            <a:srgbClr val="FAFAFA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22222"/>
                </a:solidFill>
              </a:rPr>
              <a:t>0.785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Best Federated VLM F1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657600" cy="2103120"/>
          </a:xfrm>
          <a:prstGeom prst="rect">
            <a:avLst/>
          </a:prstGeom>
          <a:solidFill>
            <a:srgbClr val="FAFAFA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22222"/>
                </a:solidFill>
              </a:rPr>
              <a:t>0.848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60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Best Centralized VLM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34440"/>
            <a:ext cx="3657600" cy="2103120"/>
          </a:xfrm>
          <a:prstGeom prst="rect">
            <a:avLst/>
          </a:prstGeom>
          <a:solidFill>
            <a:srgbClr val="FAFA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D32"/>
                </a:solidFill>
              </a:rPr>
              <a:t>90.5%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560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Avg Fed/Cent Retention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3657600" cy="2103120"/>
          </a:xfrm>
          <a:prstGeom prst="rect">
            <a:avLst/>
          </a:prstGeom>
          <a:solidFill>
            <a:srgbClr val="FAFAFA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B5E20"/>
                </a:solidFill>
              </a:rPr>
              <a:t>≥0.989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Stress-biased Eval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611880"/>
            <a:ext cx="3657600" cy="2103120"/>
          </a:xfrm>
          <a:prstGeom prst="rect">
            <a:avLst/>
          </a:prstGeom>
          <a:solidFill>
            <a:srgbClr val="FAFA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D32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937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Prediction Diversity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611880"/>
            <a:ext cx="3657600" cy="2103120"/>
          </a:xfrm>
          <a:prstGeom prst="rect">
            <a:avLst/>
          </a:prstGeom>
          <a:solidFill>
            <a:srgbClr val="FAFAFA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886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57575"/>
                </a:solidFill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937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Total Models Trained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A farmer uses FarmFederate on Android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2331720"/>
          </a:xfrm>
          <a:prstGeom prst="rect">
            <a:avLst/>
          </a:prstGeom>
          <a:solidFill>
            <a:srgbClr val="FAFAFA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4572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Farmer photographs yellowing maize leaves using the FarmFederate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749039" cy="2331720"/>
          </a:xfrm>
          <a:prstGeom prst="rect">
            <a:avLst/>
          </a:prstGeom>
          <a:solidFill>
            <a:srgbClr val="FAFA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280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2. Describe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8308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Types: "leaves pale yellow, lower leaves affected first, slow growth"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749039" cy="2331720"/>
          </a:xfrm>
          <a:prstGeom prst="rect">
            <a:avLst/>
          </a:prstGeom>
          <a:solidFill>
            <a:srgbClr val="FAFAFA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749039" cy="4572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80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3. Federated VLM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App sends encoded features (NOT raw photo) to federated server via CLIP fusion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3749039" cy="2331720"/>
          </a:xfrm>
          <a:prstGeom prst="rect">
            <a:avLst/>
          </a:prstGeom>
          <a:solidFill>
            <a:srgbClr val="FAFAFA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3749039" cy="4572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4. FedAvg 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5196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Server aggregates updates from Farm A (Punjab), B (Kerala), C (UP)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703320"/>
            <a:ext cx="3749039" cy="2331720"/>
          </a:xfrm>
          <a:prstGeom prst="rect">
            <a:avLst/>
          </a:prstGeom>
          <a:solidFill>
            <a:srgbClr val="FAFA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70332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37490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5.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425196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Nutrient Deficiency — 78% confidence  (Nitrogen deficiency pattern)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749039" cy="2331720"/>
          </a:xfrm>
          <a:prstGeom prst="rect">
            <a:avLst/>
          </a:prstGeom>
          <a:solidFill>
            <a:srgbClr val="FAFAFA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03320"/>
            <a:ext cx="3749039" cy="4572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7490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6. Advice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51960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Apply 30 kg urea/acre. Re-evaluate in 10 days. Privacy: photo never left device.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Three paradigms, one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28600" cy="10972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169E1"/>
                </a:solidFill>
              </a:rPr>
              <a:t>Federated LLM (ALBERT-tiny)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9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F1=0.548, 92.9% retention — most federation-robust. Use when bandwidth is scarce.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1430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228600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8B22"/>
                </a:solidFill>
              </a:rPr>
              <a:t>Federated ViT (ConvNeXT-tiny)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F1=0.659, 86.1% retention — best unimodal F1 but most sensitive to non-IID heterogeneity.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11430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228600" cy="10972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2222"/>
                </a:solidFill>
              </a:rPr>
              <a:t>Federated VLM (CLIP fusion)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87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F1=0.785, 92.6% retention — best overall. Recommended when dual-modality data is 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11430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22860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Anti-Collapse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760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100% prediction diversity across all 24 models via diversity loss + balanced sampling.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B5E20"/>
                </a:solidFill>
              </a:rPr>
              <a:t>FarmFederate is the first work to define, independently train, and directly compare Federated LLM, ViT, and VLM as distinct paradigms for agricultural federated AI.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FarmFederate | Federated LLM · ViT · VLM for Crop Stress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537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